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7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Alunos</c:v>
                </c:pt>
              </c:strCache>
            </c:strRef>
          </c:tx>
          <c:spPr>
            <a:solidFill>
              <a:srgbClr val="E1AD32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0A9C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58EA8"/>
              </a:solidFill>
              <a:ln w="0">
                <a:noFill/>
              </a:ln>
            </c:spPr>
          </c:dPt>
          <c:dPt>
            <c:idx val="2"/>
            <c:spPr>
              <a:solidFill>
                <a:srgbClr val="E1AD32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71C3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4C5678"/>
              </a:solidFill>
              <a:ln w="0">
                <a:noFill/>
              </a:ln>
            </c:spPr>
          </c:dPt>
          <c:dLbls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General" sourceLinked="0"/>
            <c:txPr>
              <a:bodyPr wrap="square"/>
              <a:lstStyle/>
              <a:p>
                <a:pPr>
                  <a:defRPr sz="1125" b="1" u="none" strike="noStrike">
                    <a:solidFill>
                      <a:srgbClr val="20243B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29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</c:ser>
        <c:gapWidth val="55"/>
        <c:overlap val="0"/>
        <c:axId val="81640055"/>
        <c:axId val="41484597"/>
      </c:barChart>
      <c:catAx>
        <c:axId val="8164005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125" b="1" u="none" strike="noStrike">
                    <a:solidFill>
                      <a:srgbClr val="667085"/>
                    </a:solidFill>
                    <a:uFillTx/>
                    <a:latin typeface="Arial"/>
                    <a:ea typeface="Arial"/>
                  </a:rPr>
                  <a:t>Nível de confiança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9DCE6"/>
            </a:solidFill>
            <a:round/>
          </a:ln>
        </c:spPr>
        <c:txPr>
          <a:bodyPr/>
          <a:lstStyle/>
          <a:p>
            <a:pPr>
              <a:defRPr sz="1125" b="1" u="none" strike="noStrike">
                <a:solidFill>
                  <a:srgbClr val="20243B"/>
                </a:solidFill>
                <a:uFillTx/>
                <a:latin typeface="Arial"/>
                <a:ea typeface="Arial"/>
              </a:defRPr>
            </a:pPr>
          </a:p>
        </c:txPr>
        <c:crossAx val="41484597"/>
        <c:crosses val="autoZero"/>
        <c:auto val="1"/>
        <c:lblAlgn val="ctr"/>
        <c:lblOffset val="100"/>
        <c:noMultiLvlLbl val="0"/>
      </c:catAx>
      <c:valAx>
        <c:axId val="41484597"/>
        <c:scaling>
          <c:orientation val="minMax"/>
          <c:max val="35"/>
          <c:min val="0"/>
        </c:scaling>
        <c:delete val="0"/>
        <c:axPos val="l"/>
        <c:majorGridlines>
          <c:spPr>
            <a:ln w="9360">
              <a:solidFill>
                <a:srgbClr val="D9DCE6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125" b="1" u="none" strike="noStrike">
                    <a:solidFill>
                      <a:srgbClr val="667085"/>
                    </a:solidFill>
                    <a:uFillTx/>
                    <a:latin typeface="Arial"/>
                    <a:ea typeface="Arial"/>
                  </a:rPr>
                  <a:t>Número de alunos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9DCE6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667085"/>
                </a:solidFill>
                <a:uFillTx/>
                <a:latin typeface="Arial"/>
                <a:ea typeface="Arial"/>
              </a:defRPr>
            </a:pPr>
          </a:p>
        </c:txPr>
        <c:crossAx val="81640055"/>
        <c:crosses val="autoZero"/>
        <c:crossBetween val="between"/>
        <c:majorUnit val="5"/>
      </c:valAx>
      <c:spPr>
        <a:solidFill>
          <a:srgbClr val="F7F6F1"/>
        </a:solidFill>
        <a:ln w="0">
          <a:noFill/>
        </a:ln>
      </c:spPr>
    </c:plotArea>
    <c:plotVisOnly val="1"/>
    <c:dispBlanksAs val="zero"/>
  </c:chart>
  <c:spPr>
    <a:solidFill>
      <a:srgbClr val="F7F6F1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Alunos</c:v>
                </c:pt>
              </c:strCache>
            </c:strRef>
          </c:tx>
          <c:spPr>
            <a:solidFill>
              <a:srgbClr val="E1AD32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E1AD32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71C3A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58EA8"/>
              </a:solidFill>
              <a:ln w="0">
                <a:noFill/>
              </a:ln>
            </c:spPr>
          </c:dPt>
          <c:dLbls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sz="1125" b="1" u="none" strike="noStrike">
                      <a:solidFill>
                        <a:srgbClr val="20243B"/>
                      </a:solidFill>
                      <a:uFillTx/>
                      <a:latin typeface="Arial"/>
                      <a:ea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General" sourceLinked="0"/>
            <c:txPr>
              <a:bodyPr wrap="square"/>
              <a:lstStyle/>
              <a:p>
                <a:pPr>
                  <a:defRPr sz="1125" b="1" u="none" strike="noStrike">
                    <a:solidFill>
                      <a:srgbClr val="20243B"/>
                    </a:solidFill>
                    <a:uFillTx/>
                    <a:latin typeface="Arial"/>
                    <a:ea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Python</c:v>
                </c:pt>
                <c:pt idx="1">
                  <c:v>Java</c:v>
                </c:pt>
                <c:pt idx="2">
                  <c:v>Outra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27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gapWidth val="60"/>
        <c:overlap val="0"/>
        <c:axId val="95220108"/>
        <c:axId val="68450457"/>
      </c:barChart>
      <c:catAx>
        <c:axId val="9522010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125" b="1" u="none" strike="noStrike">
                    <a:solidFill>
                      <a:srgbClr val="667085"/>
                    </a:solidFill>
                    <a:uFillTx/>
                    <a:latin typeface="Arial"/>
                    <a:ea typeface="Arial"/>
                  </a:rPr>
                  <a:t>Linguagem mais utilizada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9DCE6"/>
            </a:solidFill>
            <a:round/>
          </a:ln>
        </c:spPr>
        <c:txPr>
          <a:bodyPr/>
          <a:lstStyle/>
          <a:p>
            <a:pPr>
              <a:defRPr sz="1125" b="1" u="none" strike="noStrike">
                <a:solidFill>
                  <a:srgbClr val="20243B"/>
                </a:solidFill>
                <a:uFillTx/>
                <a:latin typeface="Arial"/>
                <a:ea typeface="Arial"/>
              </a:defRPr>
            </a:pPr>
          </a:p>
        </c:txPr>
        <c:crossAx val="68450457"/>
        <c:crosses val="autoZero"/>
        <c:auto val="1"/>
        <c:lblAlgn val="ctr"/>
        <c:lblOffset val="100"/>
        <c:noMultiLvlLbl val="0"/>
      </c:catAx>
      <c:valAx>
        <c:axId val="68450457"/>
        <c:scaling>
          <c:orientation val="minMax"/>
          <c:max val="30"/>
          <c:min val="0"/>
        </c:scaling>
        <c:delete val="0"/>
        <c:axPos val="l"/>
        <c:majorGridlines>
          <c:spPr>
            <a:ln w="9360">
              <a:solidFill>
                <a:srgbClr val="D9DCE6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125" b="1" u="none" strike="noStrike">
                    <a:solidFill>
                      <a:srgbClr val="667085"/>
                    </a:solidFill>
                    <a:uFillTx/>
                    <a:latin typeface="Arial"/>
                    <a:ea typeface="Arial"/>
                  </a:rPr>
                  <a:t>Número de alunos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D9DCE6"/>
            </a:solidFill>
            <a:round/>
          </a:ln>
        </c:spPr>
        <c:txPr>
          <a:bodyPr/>
          <a:lstStyle/>
          <a:p>
            <a:pPr>
              <a:defRPr sz="1050" b="0" u="none" strike="noStrike">
                <a:solidFill>
                  <a:srgbClr val="667085"/>
                </a:solidFill>
                <a:uFillTx/>
                <a:latin typeface="Arial"/>
                <a:ea typeface="Arial"/>
              </a:defRPr>
            </a:pPr>
          </a:p>
        </c:txPr>
        <c:crossAx val="95220108"/>
        <c:crosses val="autoZero"/>
        <c:crossBetween val="between"/>
        <c:majorUnit val="5"/>
      </c:valAx>
      <c:spPr>
        <a:solidFill>
          <a:srgbClr val="F7F6F1"/>
        </a:solidFill>
        <a:ln w="0">
          <a:noFill/>
        </a:ln>
      </c:spPr>
    </c:plotArea>
    <c:plotVisOnly val="1"/>
    <c:dispBlanksAs val="zero"/>
  </c:chart>
  <c:spPr>
    <a:solidFill>
      <a:srgbClr val="F7F6F1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move the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F6B6F7-2791-4853-94DB-7AD15BE45B1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25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Nossa proposta é criar o curso de extensão Programação na Prática, com foco em Python. A ideia é trabalhar problemas comuns do dia a dia acadêmico e profissional: entender demandas, organizar o código, interpretar erros e testar soluções. Na nossa turma, 35 de 44 alunos ainda não declararam confiança alta em programação. Esse dado mostra que existe um público real para a proposta.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Fonte dos dados locais: censo da turma de Engenharia de Software, disciplina de Probabilidade e Estatística, segundo semestre de 2026, n=44.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50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confiança em programação é uma variável qualitativa ordinal. A tabela confere 44 respostas e frequência relativa acumulada final de 100%. Escolhemos a mediana, igual a 3, porque a escala é ordinal; a média não representaria adequadamente essa ordem. As respostas vão de 1 a 5, então a amplitude é 4. Nenhuma resposta foi removida, pois todos os níveis são válidos. Essa variação indica que o curso precisa acolher diferentes níveis de entrada. Os dados descrevem esta turma; o campus não foi amostrado.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Fonte: censo da turma de Engenharia de Software, disciplina de Probabilidade e Estatística, segundo semestre de 2026, n=44.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45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Depois, cruzamos confiança com a linguagem mais utilizada. Entre os 35 alunos que marcaram de 1 a 3, 27 usam principalmente Python. Isso representa 77,1% do público-alvo. Java e outras linguagens aparecem com quatro alunos cada. Python, portanto, não foi escolhida por preferência do grupo. Ela atende à maior parte das pessoas que o curso pretende alcançar.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Fonte: censo da turma de Engenharia de Software, disciplina de Probabilidade e Estatística, segundo semestre de 2026, n=44. Recorte com confiança de 1 a 3, n=35.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55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fortalecer a proposta, usamos uma pesquisa de Duran e colaboradores com 3.193 estudantes matriculados em cursos de Computação de várias instituições brasileiras. O estudo investigou fatores que poderiam contribuir para a permanência ou para a intenção de abandonar o curso. Entre os fatores mais associados à intenção de evasão apareceram a dificuldade em programação e matemática e o excesso de disciplinas teóricas. Esse resultado mostra que dificuldades nas áreas centrais do curso merecem atenção. Porém, a pesquisa mede intenção de evasão, não o abandono observado, e não demonstra que confiança baixa cause evasão. Por isso, usamos o estudo para sustentar a relevância de uma intervenção prática, sem afirmar uma relação causal.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FONTE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Duran, R.; Bim, S. A.; Gimenes, I.; Ribeiro, L.; Correia, R. C. M. Potential Factors for Retention and Intent to Drop-out in Brazilian Computing Programs. ACM Transactions on Computing Education, v. 23, n. 3, 2023. https://doi.org/10.1145/3607537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75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proposta é um curso de extensão optativo, com prática orientada em Python. O conteúdo parte dos problemas que os estudantes já encontram: entender um enunciado, dividir o problema, organizar o código, interpretar uma mensagem de erro, depurar e testar. Os exercícios podem vir das disciplinas ou de tarefas simples do cotidiano. O curso termina com um mini-projeto. Para avaliar o resultado, aplicamos uma medida de confiança antes e depois e combinamos essa medida com uma tarefa prática. O objetivo principal é desenvolver competência. O aumento da confiança é um resultado que podemos acompanhar.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FECHAMENTO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dados mostram um público potencial de 35 estudantes e uma linguagem comum para 27 deles. Por isso, propomos um projeto piloto para esta turma. A conclusão vale somente para a turma de Engenharia de Software da disciplina de Probabilidade e Estatística de 2026/2. O censo não representa o campus e não mediu intenção de matrícula.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TEMPO: 50 segundos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Agora vem o número que poderia matar a nossa proposta. Adotamos como condição mínima que a maioria da turma ainda não tenha declarado confiança alta em programação. Com 44 alunos, a maioria começa em 23. O dado da turma mostra que 35 alunos, ou 79,5%, marcaram níveis de 1 a 3. Portanto, nesse critério, a proposta se sustenta. Mas há uma limitação importante: o censo não perguntou quem faria o curso. Esse número confirma a existência de um público relevante, mas não prova intenção de matrícula.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7F7EDE-60B1-42BB-97ED-8379945D9675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02920"/>
            <a:ext cx="10972080" cy="68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3364920"/>
            <a:ext cx="109720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543960"/>
            <a:ext cx="1097208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7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704880" y="1200240"/>
            <a:ext cx="8857440" cy="16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4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Programação na Prática</a:t>
            </a:r>
            <a:endParaRPr lang="pt-BR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45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com Python</a:t>
            </a:r>
            <a:endParaRPr lang="pt-BR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43040" y="3029040"/>
            <a:ext cx="95241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170" b="0" u="none" strike="noStrike">
                <a:solidFill>
                  <a:srgbClr val="D8DDF2"/>
                </a:solidFill>
                <a:effectLst/>
                <a:uFillTx/>
                <a:latin typeface="Arial"/>
                <a:ea typeface="Arial"/>
              </a:rPr>
              <a:t>Curso de extensão para problemas reais da faculdade e do mercado de trabalho</a:t>
            </a:r>
            <a:endParaRPr lang="pt-B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43040" y="4324320"/>
            <a:ext cx="87624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100" b="1" u="none" strike="noStrike">
                <a:solidFill>
                  <a:srgbClr val="E1AD32"/>
                </a:solidFill>
                <a:effectLst/>
                <a:uFillTx/>
                <a:latin typeface="Arial"/>
                <a:ea typeface="Arial"/>
              </a:rPr>
              <a:t>35 de 44 alunos não declararam confiança alta em programação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43040" y="5962680"/>
            <a:ext cx="809568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430" b="0" u="none" strike="noStrike">
                <a:solidFill>
                  <a:srgbClr val="B8BED4"/>
                </a:solidFill>
                <a:effectLst/>
                <a:uFillTx/>
                <a:latin typeface="Arial"/>
                <a:ea typeface="Arial"/>
              </a:rPr>
              <a:t>Integrantes: Guilherme Menhard, Gustavo Veiga, Lucas Weber e Raphael Nunes</a:t>
            </a:r>
            <a:endParaRPr lang="pt-B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ns2="http://schemas.openxmlformats.org/drawingml/2006/chart" xmlns:ns4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685800" y="380880"/>
            <a:ext cx="1081980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330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A confiança está concentrada no nível 3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04880" y="95256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725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Confiança em programação • variável qualitativa ordinal • turma ES, n=44</a:t>
            </a:r>
            <a:endParaRPr lang="pt-B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704880" y="6419880"/>
            <a:ext cx="990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Escopo: turma de ES 2026/2, n=44; o campus não foi amostrado. Fonte: censo da turma.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0953720" y="641988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" name="Chart"/>
          <p:cNvGraphicFramePr/>
          <p:nvPr/>
        </p:nvGraphicFramePr>
        <p:xfrm>
          <a:off x="594360" y="1485900"/>
          <a:ext cx="6126480" cy="4343400"/>
        </p:xfrm>
        <a:graphic>
          <a:graphicData uri="http://schemas.openxmlformats.org/drawingml/2006/chart">
            <ns2:chart r:id="rId1"/>
          </a:graphicData>
        </a:graphic>
      </p:graphicFrame>
      <p:sp>
        <p:nvSpPr>
          <p:cNvPr id="25" name="Table heading"/>
          <p:cNvSpPr/>
          <p:nvPr/>
        </p:nvSpPr>
        <p:spPr>
          <a:xfrm>
            <a:off x="7147560" y="1485900"/>
            <a:ext cx="4300000" cy="274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35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TABELA DE FREQUÊNCIA</a:t>
            </a:r>
          </a:p>
        </p:txBody>
      </p:sp>
      <p:sp>
        <p:nvSpPr>
          <p:cNvPr id="26" name="Table r0 c0"/>
          <p:cNvSpPr/>
          <p:nvPr/>
        </p:nvSpPr>
        <p:spPr>
          <a:xfrm>
            <a:off x="7147560" y="1813560"/>
            <a:ext cx="720000" cy="365760"/>
          </a:xfrm>
          <a:prstGeom prst="rect">
            <a:avLst/>
          </a:prstGeom>
          <a:solidFill>
            <a:srgbClr val="20243B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Nível</a:t>
            </a:r>
          </a:p>
        </p:txBody>
      </p:sp>
      <p:sp>
        <p:nvSpPr>
          <p:cNvPr id="27" name="Table r0 c1"/>
          <p:cNvSpPr/>
          <p:nvPr/>
        </p:nvSpPr>
        <p:spPr>
          <a:xfrm>
            <a:off x="7867560" y="1813560"/>
            <a:ext cx="620000" cy="365760"/>
          </a:xfrm>
          <a:prstGeom prst="rect">
            <a:avLst/>
          </a:prstGeom>
          <a:solidFill>
            <a:srgbClr val="20243B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</a:t>
            </a:r>
          </a:p>
        </p:txBody>
      </p:sp>
      <p:sp>
        <p:nvSpPr>
          <p:cNvPr id="28" name="Table r0 c2"/>
          <p:cNvSpPr/>
          <p:nvPr/>
        </p:nvSpPr>
        <p:spPr>
          <a:xfrm>
            <a:off x="8487560" y="1813560"/>
            <a:ext cx="980000" cy="365760"/>
          </a:xfrm>
          <a:prstGeom prst="rect">
            <a:avLst/>
          </a:prstGeom>
          <a:solidFill>
            <a:srgbClr val="20243B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fri</a:t>
            </a:r>
          </a:p>
        </p:txBody>
      </p:sp>
      <p:sp>
        <p:nvSpPr>
          <p:cNvPr id="29" name="Table r0 c3"/>
          <p:cNvSpPr/>
          <p:nvPr/>
        </p:nvSpPr>
        <p:spPr>
          <a:xfrm>
            <a:off x="9467560" y="1813560"/>
            <a:ext cx="620000" cy="365760"/>
          </a:xfrm>
          <a:prstGeom prst="rect">
            <a:avLst/>
          </a:prstGeom>
          <a:solidFill>
            <a:srgbClr val="20243B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</a:t>
            </a:r>
          </a:p>
        </p:txBody>
      </p:sp>
      <p:sp>
        <p:nvSpPr>
          <p:cNvPr id="30" name="Table r0 c4"/>
          <p:cNvSpPr/>
          <p:nvPr/>
        </p:nvSpPr>
        <p:spPr>
          <a:xfrm>
            <a:off x="10087560" y="1813560"/>
            <a:ext cx="1360000" cy="365760"/>
          </a:xfrm>
          <a:prstGeom prst="rect">
            <a:avLst/>
          </a:prstGeom>
          <a:solidFill>
            <a:srgbClr val="20243B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Fri</a:t>
            </a:r>
          </a:p>
        </p:txBody>
      </p:sp>
      <p:sp>
        <p:nvSpPr>
          <p:cNvPr id="31" name="Table r1 c0"/>
          <p:cNvSpPr/>
          <p:nvPr/>
        </p:nvSpPr>
        <p:spPr>
          <a:xfrm>
            <a:off x="7147560" y="2179320"/>
            <a:ext cx="7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Table r1 c1"/>
          <p:cNvSpPr/>
          <p:nvPr/>
        </p:nvSpPr>
        <p:spPr>
          <a:xfrm>
            <a:off x="7867560" y="217932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Table r1 c2"/>
          <p:cNvSpPr/>
          <p:nvPr/>
        </p:nvSpPr>
        <p:spPr>
          <a:xfrm>
            <a:off x="8487560" y="2179320"/>
            <a:ext cx="98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2,3%</a:t>
            </a:r>
          </a:p>
        </p:txBody>
      </p:sp>
      <p:sp>
        <p:nvSpPr>
          <p:cNvPr id="34" name="Table r1 c3"/>
          <p:cNvSpPr/>
          <p:nvPr/>
        </p:nvSpPr>
        <p:spPr>
          <a:xfrm>
            <a:off x="9467560" y="217932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Table r1 c4"/>
          <p:cNvSpPr/>
          <p:nvPr/>
        </p:nvSpPr>
        <p:spPr>
          <a:xfrm>
            <a:off x="10087560" y="2179320"/>
            <a:ext cx="136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2,3%</a:t>
            </a:r>
          </a:p>
        </p:txBody>
      </p:sp>
      <p:sp>
        <p:nvSpPr>
          <p:cNvPr id="36" name="Table r2 c0"/>
          <p:cNvSpPr/>
          <p:nvPr/>
        </p:nvSpPr>
        <p:spPr>
          <a:xfrm>
            <a:off x="7147560" y="2545080"/>
            <a:ext cx="7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7" name="Table r2 c1"/>
          <p:cNvSpPr/>
          <p:nvPr/>
        </p:nvSpPr>
        <p:spPr>
          <a:xfrm>
            <a:off x="7867560" y="2545080"/>
            <a:ext cx="6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Table r2 c2"/>
          <p:cNvSpPr/>
          <p:nvPr/>
        </p:nvSpPr>
        <p:spPr>
          <a:xfrm>
            <a:off x="8487560" y="2545080"/>
            <a:ext cx="98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11,4%</a:t>
            </a:r>
          </a:p>
        </p:txBody>
      </p:sp>
      <p:sp>
        <p:nvSpPr>
          <p:cNvPr id="39" name="Table r2 c3"/>
          <p:cNvSpPr/>
          <p:nvPr/>
        </p:nvSpPr>
        <p:spPr>
          <a:xfrm>
            <a:off x="9467560" y="2545080"/>
            <a:ext cx="6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0" name="Table r2 c4"/>
          <p:cNvSpPr/>
          <p:nvPr/>
        </p:nvSpPr>
        <p:spPr>
          <a:xfrm>
            <a:off x="10087560" y="2545080"/>
            <a:ext cx="136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13,6%</a:t>
            </a:r>
          </a:p>
        </p:txBody>
      </p:sp>
      <p:sp>
        <p:nvSpPr>
          <p:cNvPr id="41" name="Table r3 c0"/>
          <p:cNvSpPr/>
          <p:nvPr/>
        </p:nvSpPr>
        <p:spPr>
          <a:xfrm>
            <a:off x="7147560" y="2910840"/>
            <a:ext cx="7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Table r3 c1"/>
          <p:cNvSpPr/>
          <p:nvPr/>
        </p:nvSpPr>
        <p:spPr>
          <a:xfrm>
            <a:off x="7867560" y="291084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3" name="Table r3 c2"/>
          <p:cNvSpPr/>
          <p:nvPr/>
        </p:nvSpPr>
        <p:spPr>
          <a:xfrm>
            <a:off x="8487560" y="2910840"/>
            <a:ext cx="98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65,9%</a:t>
            </a:r>
          </a:p>
        </p:txBody>
      </p:sp>
      <p:sp>
        <p:nvSpPr>
          <p:cNvPr id="44" name="Table r3 c3"/>
          <p:cNvSpPr/>
          <p:nvPr/>
        </p:nvSpPr>
        <p:spPr>
          <a:xfrm>
            <a:off x="9467560" y="291084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45" name="Table r3 c4"/>
          <p:cNvSpPr/>
          <p:nvPr/>
        </p:nvSpPr>
        <p:spPr>
          <a:xfrm>
            <a:off x="10087560" y="2910840"/>
            <a:ext cx="136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79,5%</a:t>
            </a:r>
          </a:p>
        </p:txBody>
      </p:sp>
      <p:sp>
        <p:nvSpPr>
          <p:cNvPr id="46" name="Table r4 c0"/>
          <p:cNvSpPr/>
          <p:nvPr/>
        </p:nvSpPr>
        <p:spPr>
          <a:xfrm>
            <a:off x="7147560" y="3276600"/>
            <a:ext cx="7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Table r4 c1"/>
          <p:cNvSpPr/>
          <p:nvPr/>
        </p:nvSpPr>
        <p:spPr>
          <a:xfrm>
            <a:off x="7867560" y="3276600"/>
            <a:ext cx="6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8" name="Table r4 c2"/>
          <p:cNvSpPr/>
          <p:nvPr/>
        </p:nvSpPr>
        <p:spPr>
          <a:xfrm>
            <a:off x="8487560" y="3276600"/>
            <a:ext cx="98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18,2%</a:t>
            </a:r>
          </a:p>
        </p:txBody>
      </p:sp>
      <p:sp>
        <p:nvSpPr>
          <p:cNvPr id="49" name="Table r4 c3"/>
          <p:cNvSpPr/>
          <p:nvPr/>
        </p:nvSpPr>
        <p:spPr>
          <a:xfrm>
            <a:off x="9467560" y="3276600"/>
            <a:ext cx="62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0" name="Table r4 c4"/>
          <p:cNvSpPr/>
          <p:nvPr/>
        </p:nvSpPr>
        <p:spPr>
          <a:xfrm>
            <a:off x="10087560" y="3276600"/>
            <a:ext cx="1360000" cy="365760"/>
          </a:xfrm>
          <a:prstGeom prst="rect">
            <a:avLst/>
          </a:prstGeom>
          <a:solidFill>
            <a:srgbClr val="EEECE5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97,7%</a:t>
            </a:r>
          </a:p>
        </p:txBody>
      </p:sp>
      <p:sp>
        <p:nvSpPr>
          <p:cNvPr id="51" name="Table r5 c0"/>
          <p:cNvSpPr/>
          <p:nvPr/>
        </p:nvSpPr>
        <p:spPr>
          <a:xfrm>
            <a:off x="7147560" y="3642360"/>
            <a:ext cx="7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2" name="Table r5 c1"/>
          <p:cNvSpPr/>
          <p:nvPr/>
        </p:nvSpPr>
        <p:spPr>
          <a:xfrm>
            <a:off x="7867560" y="364236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Table r5 c2"/>
          <p:cNvSpPr/>
          <p:nvPr/>
        </p:nvSpPr>
        <p:spPr>
          <a:xfrm>
            <a:off x="8487560" y="3642360"/>
            <a:ext cx="98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2,3%</a:t>
            </a:r>
          </a:p>
        </p:txBody>
      </p:sp>
      <p:sp>
        <p:nvSpPr>
          <p:cNvPr id="54" name="Table r5 c3"/>
          <p:cNvSpPr/>
          <p:nvPr/>
        </p:nvSpPr>
        <p:spPr>
          <a:xfrm>
            <a:off x="9467560" y="3642360"/>
            <a:ext cx="62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5" name="Table r5 c4"/>
          <p:cNvSpPr/>
          <p:nvPr/>
        </p:nvSpPr>
        <p:spPr>
          <a:xfrm>
            <a:off x="10087560" y="3642360"/>
            <a:ext cx="1360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20000" rIns="20000" tIns="10000" bIns="10000" anchor="ctr"/>
          <a:lstStyle/>
          <a:p>
            <a:pPr algn="ctr">
              <a:buNone/>
            </a:pPr>
            <a:r>
              <a:rPr sz="115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>100,0%</a:t>
            </a:r>
          </a:p>
        </p:txBody>
      </p:sp>
      <p:sp>
        <p:nvSpPr>
          <p:cNvPr id="56" name="Frequency checks"/>
          <p:cNvSpPr/>
          <p:nvPr/>
        </p:nvSpPr>
        <p:spPr>
          <a:xfrm>
            <a:off x="7147560" y="4138120"/>
            <a:ext cx="4300000" cy="430000"/>
          </a:xfrm>
          <a:prstGeom prst="rect">
            <a:avLst/>
          </a:prstGeom>
          <a:solidFill>
            <a:srgbClr val="F3E5BD"/>
          </a:solidFill>
          <a:ln w="0">
            <a:noFill/>
          </a:ln>
        </p:spPr>
        <p:txBody>
          <a:bodyPr lIns="45720" rIns="45720" tIns="22860" bIns="22860" anchor="ctr"/>
          <a:lstStyle/>
          <a:p>
            <a:pPr algn="ctr">
              <a:buNone/>
            </a:pPr>
            <a:r>
              <a:rPr sz="120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CONFERÊNCIA     Σfi = 44 ✓     Fri final = 100% ✓</a:t>
            </a:r>
          </a:p>
        </p:txBody>
      </p:sp>
      <p:sp>
        <p:nvSpPr>
          <p:cNvPr id="57" name="CENTRO card"/>
          <p:cNvSpPr/>
          <p:nvPr/>
        </p:nvSpPr>
        <p:spPr>
          <a:xfrm>
            <a:off x="7147560" y="4698120"/>
            <a:ext cx="2095000" cy="9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45720" rIns="45720" tIns="22860" bIns="22860" anchor="ctr"/>
          <a:lstStyle/>
          <a:p>
            <a:pPr algn="ctr">
              <a:buNone/>
            </a:pPr>
            <a:r>
              <a:rPr sz="12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58" name="CENTRO label"/>
          <p:cNvSpPr/>
          <p:nvPr/>
        </p:nvSpPr>
        <p:spPr>
          <a:xfrm>
            <a:off x="7237560" y="4763120"/>
            <a:ext cx="1915000" cy="18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0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CENTRO</a:t>
            </a:r>
          </a:p>
        </p:txBody>
      </p:sp>
      <p:sp>
        <p:nvSpPr>
          <p:cNvPr id="59" name="CENTRO value"/>
          <p:cNvSpPr/>
          <p:nvPr/>
        </p:nvSpPr>
        <p:spPr>
          <a:xfrm>
            <a:off x="7237560" y="4958120"/>
            <a:ext cx="1915000" cy="30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7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Mediana = 3</a:t>
            </a:r>
          </a:p>
        </p:txBody>
      </p:sp>
      <p:sp>
        <p:nvSpPr>
          <p:cNvPr id="60" name="CENTRO note"/>
          <p:cNvSpPr/>
          <p:nvPr/>
        </p:nvSpPr>
        <p:spPr>
          <a:xfrm>
            <a:off x="7237560" y="5273120"/>
            <a:ext cx="1915000" cy="26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0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Adequada à escala ordinal</a:t>
            </a:r>
          </a:p>
        </p:txBody>
      </p:sp>
      <p:sp>
        <p:nvSpPr>
          <p:cNvPr id="61" name="DISPERSÃO card"/>
          <p:cNvSpPr/>
          <p:nvPr/>
        </p:nvSpPr>
        <p:spPr>
          <a:xfrm>
            <a:off x="9352560" y="4698120"/>
            <a:ext cx="2095000" cy="9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5CC"/>
            </a:solidFill>
          </a:ln>
        </p:spPr>
        <p:txBody>
          <a:bodyPr lIns="45720" rIns="45720" tIns="22860" bIns="22860" anchor="ctr"/>
          <a:lstStyle/>
          <a:p>
            <a:pPr algn="ctr">
              <a:buNone/>
            </a:pPr>
            <a:r>
              <a:rPr sz="1200" b="0">
                <a:solidFill>
                  <a:srgbClr val="2024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2" name="DISPERSÃO label"/>
          <p:cNvSpPr/>
          <p:nvPr/>
        </p:nvSpPr>
        <p:spPr>
          <a:xfrm>
            <a:off x="9442560" y="4763120"/>
            <a:ext cx="1915000" cy="18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000" b="1">
                <a:solidFill>
                  <a:srgbClr val="E1AD32"/>
                </a:solidFill>
                <a:latin typeface="Arial"/>
                <a:ea typeface="Arial"/>
                <a:cs typeface="Arial"/>
              </a:rPr>
              <a:t>DISPERSÃO</a:t>
            </a:r>
          </a:p>
        </p:txBody>
      </p:sp>
      <p:sp>
        <p:nvSpPr>
          <p:cNvPr id="63" name="DISPERSÃO value"/>
          <p:cNvSpPr/>
          <p:nvPr/>
        </p:nvSpPr>
        <p:spPr>
          <a:xfrm>
            <a:off x="9442560" y="4958120"/>
            <a:ext cx="1915000" cy="30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7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Amplitude = 4</a:t>
            </a:r>
          </a:p>
        </p:txBody>
      </p:sp>
      <p:sp>
        <p:nvSpPr>
          <p:cNvPr id="64" name="DISPERSÃO note"/>
          <p:cNvSpPr/>
          <p:nvPr/>
        </p:nvSpPr>
        <p:spPr>
          <a:xfrm>
            <a:off x="9442560" y="5273120"/>
            <a:ext cx="1915000" cy="26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0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Respostas entre 1 e 5</a:t>
            </a:r>
          </a:p>
        </p:txBody>
      </p:sp>
      <p:sp>
        <p:nvSpPr>
          <p:cNvPr id="65" name="Impact statement"/>
          <p:cNvSpPr/>
          <p:nvPr/>
        </p:nvSpPr>
        <p:spPr>
          <a:xfrm>
            <a:off x="7147560" y="5708120"/>
            <a:ext cx="4300000" cy="46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22860" bIns="22860" anchor="ctr"/>
          <a:lstStyle/>
          <a:p>
            <a:pPr algn="l">
              <a:buNone/>
            </a:pPr>
            <a:r>
              <a:rPr sz="1150" b="1">
                <a:solidFill>
                  <a:srgbClr val="20243B"/>
                </a:solidFill>
                <a:latin typeface="Arial"/>
                <a:ea typeface="Arial"/>
                <a:cs typeface="Arial"/>
              </a:rPr>
              <a:t>Impacto: diferentes níveis de entrada pedem atividades graduais. Nenhuma resposta foi removida.</a:t>
            </a:r>
          </a:p>
        </p:txBody>
      </p:sp>
    </p:spTree>
  </p:cSld>
  <ns4:AlternateContent>
    <ns4:Choice Requires="p14">
      <p:transition spd="slow" p14:dur="2000"/>
    </ns4:Choice>
    <ns4:Fallback>
      <p:transition spd="slow"/>
    </ns4:Fallback>
  </ns4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685800" y="380880"/>
            <a:ext cx="1081980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330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Python atende 77,1% do público-alvo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704880" y="95256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729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Linguagem mais usada entre os 35 alunos com confiança de 1 a 3</a:t>
            </a:r>
            <a:endParaRPr lang="pt-B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8572680" y="2038320"/>
            <a:ext cx="199944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6450" b="1" u="none" strike="noStrike">
                <a:solidFill>
                  <a:srgbClr val="E1AD32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pt-BR" sz="6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8238960" y="3105000"/>
            <a:ext cx="266616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87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alunos usam Python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048520" y="3962520"/>
            <a:ext cx="30474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87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Uma linguagem comum permite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87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um curso focado e acessível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04880" y="6419880"/>
            <a:ext cx="990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Fonte: cruzamento entre confiança e linguagem no censo da turma, n=35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10953720" y="641988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Chart"/>
          <p:cNvGraphicFramePr/>
          <p:nvPr/>
        </p:nvGraphicFramePr>
        <p:xfrm>
          <a:off x="762120" y="1695600"/>
          <a:ext cx="7238160" cy="38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685800" y="380880"/>
            <a:ext cx="1081980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330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Evasão em cursos de Computação no Brasil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704880" y="95256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729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Pesquisa nacional com 3.193 estudantes matriculados em cursos de Computação</a:t>
            </a:r>
            <a:endParaRPr lang="pt-B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14400" y="1790640"/>
            <a:ext cx="390456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5400" b="1" u="none" strike="noStrike">
                <a:solidFill>
                  <a:srgbClr val="E1AD32"/>
                </a:solidFill>
                <a:effectLst/>
                <a:uFillTx/>
                <a:latin typeface="Arial"/>
                <a:ea typeface="Arial"/>
              </a:rPr>
              <a:t>3.193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52560" y="2800440"/>
            <a:ext cx="40950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87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estudantes de cursos brasileiros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7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de Computação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52560" y="3733920"/>
            <a:ext cx="4285440" cy="13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O estudo investigou fatores associados à permanência e à intenção de abandonar o curso.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667560" y="1790640"/>
            <a:ext cx="333288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5400" b="1" u="none" strike="noStrike">
                <a:solidFill>
                  <a:srgbClr val="171C3A"/>
                </a:solidFill>
                <a:effectLst/>
                <a:uFillTx/>
                <a:latin typeface="Arial"/>
                <a:ea typeface="Arial"/>
              </a:rPr>
              <a:t>2 fatores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705720" y="2800440"/>
            <a:ext cx="40950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87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fatores mais associados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7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à intenção de evasão</a:t>
            </a:r>
            <a:endParaRPr lang="pt-BR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705720" y="3733920"/>
            <a:ext cx="4285440" cy="13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Dificuldade em programação e matemática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Excesso de disciplinas teóricas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143000" y="5276880"/>
            <a:ext cx="990540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500" b="1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O estudo mede intenção de evasão, não abandono observado, e não estabelece causalidade.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04880" y="6419880"/>
            <a:ext cx="990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Fonte: Duran et al. (2023), https://doi.org/10.1145/3607537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953720" y="641988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685800" y="380880"/>
            <a:ext cx="10819800" cy="5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3300" b="1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Curso de extensão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704880" y="952560"/>
            <a:ext cx="1047672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729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Prática orientada com problemas próximos da graduação</a:t>
            </a:r>
            <a:endParaRPr lang="pt-B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76240" y="1676520"/>
            <a:ext cx="26661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170" b="1" u="none" strike="noStrike">
                <a:solidFill>
                  <a:srgbClr val="E1AD32"/>
                </a:solidFill>
                <a:effectLst/>
                <a:uFillTx/>
                <a:latin typeface="Arial"/>
                <a:ea typeface="Arial"/>
              </a:rPr>
              <a:t>Objetivo</a:t>
            </a:r>
            <a:endParaRPr lang="pt-B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76240" y="2133720"/>
            <a:ext cx="45712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Desenvolver competência prática em Python e acompanhar a mudança na confiança dos participantes.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300000" y="1800000"/>
            <a:ext cx="4952160" cy="36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79360" indent="-127080">
              <a:lnSpc>
                <a:spcPct val="100000"/>
              </a:lnSpc>
              <a:spcAft>
                <a:spcPts val="1400"/>
              </a:spcAft>
              <a:buClr>
                <a:srgbClr val="20243B"/>
              </a:buClr>
              <a:buFont typeface="Symbol" charset="2"/>
              <a:buChar char=""/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decomposição de problemas e construção de algoritmos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9360" indent="-127080">
              <a:lnSpc>
                <a:spcPct val="100000"/>
              </a:lnSpc>
              <a:spcAft>
                <a:spcPts val="1400"/>
              </a:spcAft>
              <a:buClr>
                <a:srgbClr val="20243B"/>
              </a:buClr>
              <a:buFont typeface="Symbol" charset="2"/>
              <a:buChar char=""/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funções, estruturas de dados e organização do código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9360" indent="-127080">
              <a:lnSpc>
                <a:spcPct val="100000"/>
              </a:lnSpc>
              <a:spcAft>
                <a:spcPts val="1400"/>
              </a:spcAft>
              <a:buClr>
                <a:srgbClr val="20243B"/>
              </a:buClr>
              <a:buFont typeface="Symbol" charset="2"/>
              <a:buChar char=""/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leitura de erros, depuração e testes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9360" indent="-127080">
              <a:lnSpc>
                <a:spcPct val="100000"/>
              </a:lnSpc>
              <a:spcAft>
                <a:spcPts val="1400"/>
              </a:spcAft>
              <a:buClr>
                <a:srgbClr val="20243B"/>
              </a:buClr>
              <a:buFont typeface="Symbol" charset="2"/>
              <a:buChar char=""/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exercícios das disciplinas e problemas do cotidiano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9360" indent="-127080">
              <a:lnSpc>
                <a:spcPct val="100000"/>
              </a:lnSpc>
              <a:spcAft>
                <a:spcPts val="1400"/>
              </a:spcAft>
              <a:buClr>
                <a:srgbClr val="20243B"/>
              </a:buClr>
              <a:buFont typeface="Symbol" charset="2"/>
              <a:buChar char=""/>
            </a:pPr>
            <a:r>
              <a:rPr lang="pt-BR" sz="202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mini-projeto com avaliação de confiança antes e depois</a:t>
            </a:r>
            <a:endParaRPr lang="pt-BR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76240" y="3809880"/>
            <a:ext cx="28569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2170" b="1" u="none" strike="noStrike">
                <a:solidFill>
                  <a:srgbClr val="E1AD32"/>
                </a:solidFill>
                <a:effectLst/>
                <a:uFillTx/>
                <a:latin typeface="Arial"/>
                <a:ea typeface="Arial"/>
              </a:rPr>
              <a:t>Formato proposto</a:t>
            </a:r>
            <a:endParaRPr lang="pt-BR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76240" y="4305240"/>
            <a:ext cx="4571280" cy="12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950" b="0" u="none" strike="noStrike">
                <a:solidFill>
                  <a:srgbClr val="20243B"/>
                </a:solidFill>
                <a:effectLst/>
                <a:uFillTx/>
                <a:latin typeface="Arial"/>
                <a:ea typeface="Arial"/>
              </a:rPr>
              <a:t>Atividade optativa, aberta à turma, com encontros presenciais e foco em resolver problemas escrevendo e testando código.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04880" y="6419880"/>
            <a:ext cx="9905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Proposta de Curso de Extensão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953720" y="641988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/>
          <p:cNvSpPr/>
          <p:nvPr/>
        </p:nvSpPr>
        <p:spPr>
          <a:xfrm>
            <a:off x="685800" y="384120"/>
            <a:ext cx="10816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3300" b="1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O número que mata a ideia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2"/>
          <p:cNvSpPr/>
          <p:nvPr/>
        </p:nvSpPr>
        <p:spPr>
          <a:xfrm>
            <a:off x="704160" y="951120"/>
            <a:ext cx="1047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729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A proposta só se sustenta se a maioria da turma ainda não declarar confiança alta em programação</a:t>
            </a:r>
            <a:endParaRPr lang="pt-BR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3"/>
          <p:cNvSpPr/>
          <p:nvPr/>
        </p:nvSpPr>
        <p:spPr>
          <a:xfrm>
            <a:off x="704160" y="171468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350" b="1" u="none" strike="noStrike">
                <a:solidFill>
                  <a:srgbClr val="E1AD32"/>
                </a:solidFill>
                <a:effectLst/>
                <a:uFillTx/>
                <a:latin typeface="Arial"/>
              </a:rPr>
              <a:t>CRITÉRIO MÍNIMO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4"/>
          <p:cNvSpPr/>
          <p:nvPr/>
        </p:nvSpPr>
        <p:spPr>
          <a:xfrm>
            <a:off x="685800" y="2133720"/>
            <a:ext cx="332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4400" b="1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23 de 44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5"/>
          <p:cNvSpPr/>
          <p:nvPr/>
        </p:nvSpPr>
        <p:spPr>
          <a:xfrm>
            <a:off x="704160" y="3032640"/>
            <a:ext cx="3611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700" b="0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Com 44 alunos, a maioria começa em 23.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6"/>
          <p:cNvSpPr/>
          <p:nvPr/>
        </p:nvSpPr>
        <p:spPr>
          <a:xfrm>
            <a:off x="4617720" y="1714680"/>
            <a:ext cx="3337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350" b="1" u="none" strike="noStrike">
                <a:solidFill>
                  <a:srgbClr val="E1AD32"/>
                </a:solidFill>
                <a:effectLst/>
                <a:uFillTx/>
                <a:latin typeface="Arial"/>
              </a:rPr>
              <a:t>O DADO DA TURMA DIZ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7"/>
          <p:cNvSpPr/>
          <p:nvPr/>
        </p:nvSpPr>
        <p:spPr>
          <a:xfrm>
            <a:off x="4617720" y="2133720"/>
            <a:ext cx="347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4400" b="1" u="none" strike="noStrike">
                <a:solidFill>
                  <a:srgbClr val="E1AD32"/>
                </a:solidFill>
                <a:effectLst/>
                <a:uFillTx/>
                <a:latin typeface="Arial"/>
              </a:rPr>
              <a:t>35 de 44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8"/>
          <p:cNvSpPr/>
          <p:nvPr/>
        </p:nvSpPr>
        <p:spPr>
          <a:xfrm>
            <a:off x="4617720" y="292608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3200" b="1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79,5%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9"/>
          <p:cNvSpPr/>
          <p:nvPr/>
        </p:nvSpPr>
        <p:spPr>
          <a:xfrm>
            <a:off x="4480560" y="3657600"/>
            <a:ext cx="3382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700" b="0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Marcaram níveis de 1 a 3 de confiança.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8275320" y="171468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350" b="1" u="none" strike="noStrike">
                <a:solidFill>
                  <a:srgbClr val="E1AD32"/>
                </a:solidFill>
                <a:effectLst/>
                <a:uFillTx/>
                <a:latin typeface="Arial"/>
              </a:rPr>
              <a:t>PORTANTO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1"/>
          <p:cNvSpPr/>
          <p:nvPr/>
        </p:nvSpPr>
        <p:spPr>
          <a:xfrm>
            <a:off x="8275320" y="21337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3400" b="1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SUSTENTA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2"/>
          <p:cNvSpPr/>
          <p:nvPr/>
        </p:nvSpPr>
        <p:spPr>
          <a:xfrm>
            <a:off x="8275320" y="2926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2800" b="1" u="none" strike="noStrike">
                <a:solidFill>
                  <a:srgbClr val="E1AD32"/>
                </a:solidFill>
                <a:effectLst/>
                <a:uFillTx/>
                <a:latin typeface="Arial"/>
              </a:rPr>
              <a:t>35 &gt; 23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3"/>
          <p:cNvSpPr/>
          <p:nvPr/>
        </p:nvSpPr>
        <p:spPr>
          <a:xfrm>
            <a:off x="8274960" y="3657600"/>
            <a:ext cx="2880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650" b="0" u="none" strike="noStrike">
                <a:solidFill>
                  <a:srgbClr val="20243B"/>
                </a:solidFill>
                <a:effectLst/>
                <a:uFillTx/>
                <a:latin typeface="Arial"/>
              </a:rPr>
              <a:t>O dado atende ao critério definido.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4"/>
          <p:cNvSpPr/>
          <p:nvPr/>
        </p:nvSpPr>
        <p:spPr>
          <a:xfrm>
            <a:off x="704160" y="6419160"/>
            <a:ext cx="9902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Fonte: censo da turma de ES, 2026/2, n=44. Confiança em programação: níveis 1 a 3. Não mede intenção de matrícula.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5"/>
          <p:cNvSpPr/>
          <p:nvPr/>
        </p:nvSpPr>
        <p:spPr>
          <a:xfrm>
            <a:off x="10954440" y="6419160"/>
            <a:ext cx="51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>
              <a:lnSpc>
                <a:spcPct val="100000"/>
              </a:lnSpc>
            </a:pPr>
            <a:r>
              <a:rPr lang="pt-BR" sz="1130" b="0" u="none" strike="noStrike">
                <a:solidFill>
                  <a:srgbClr val="667085"/>
                </a:solidFill>
                <a:effectLst/>
                <a:uFillTx/>
                <a:latin typeface="Arial"/>
              </a:rPr>
              <a:t>6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LibreOffice/26.2.4.2$Linux_X86_64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2026-09-17T17:32:51Z</dcterms:created>
  <dc:creator>Walnut Exporter</dc:creator>
  <dc:description/>
  <dc:language>pt-BR</dc:language>
  <cp:lastModifiedBy/>
  <dcterms:modified xsi:type="dcterms:W3CDTF">2026-09-17T18:11:20Z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