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bb57379f87415b" /><Relationship Type="http://schemas.openxmlformats.org/officeDocument/2006/relationships/extended-properties" Target="/docProps/app.xml" Id="R72fea0d6dfa84999" /><Relationship Type="http://schemas.openxmlformats.org/officeDocument/2006/relationships/officeDocument" Target="/ppt/presentation.xml" Id="R020b9f17e11842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a1bcb99534fb6"/>
  </p:sldMasterIdLst>
  <p:notesMasterIdLst>
    <p:notesMasterId xmlns:r="http://schemas.openxmlformats.org/officeDocument/2006/relationships" r:id="R22d67f15b5e94ad1"/>
  </p:notesMasterIdLst>
  <p:sldIdLst>
    <p:sldId xmlns:r="http://schemas.openxmlformats.org/officeDocument/2006/relationships" id="256" r:id="R04f6cd9f2b4346dd"/>
    <p:sldId xmlns:r="http://schemas.openxmlformats.org/officeDocument/2006/relationships" id="257" r:id="Rdab7e9a084cf4f7b"/>
    <p:sldId xmlns:r="http://schemas.openxmlformats.org/officeDocument/2006/relationships" id="258" r:id="R66d2b240c990446e"/>
    <p:sldId xmlns:r="http://schemas.openxmlformats.org/officeDocument/2006/relationships" id="259" r:id="R52e22f7405bc4854"/>
    <p:sldId xmlns:r="http://schemas.openxmlformats.org/officeDocument/2006/relationships" id="260" r:id="Rcdbb46d342d943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2f105a22734f4a" /><Relationship Type="http://schemas.openxmlformats.org/officeDocument/2006/relationships/slideMaster" Target="/ppt/slideMasters/slideMaster1.xml" Id="R36ca1bcb99534fb6" /><Relationship Type="http://schemas.openxmlformats.org/officeDocument/2006/relationships/notesMaster" Target="/ppt/notesMasters/notesMaster1.xml" Id="R22d67f15b5e94ad1" /><Relationship Type="http://schemas.openxmlformats.org/officeDocument/2006/relationships/presProps" Target="/ppt/presProps.xml" Id="Ra1eefe7fcdf94e06" /><Relationship Type="http://schemas.openxmlformats.org/officeDocument/2006/relationships/tableStyles" Target="/ppt/tableStyles.xml" Id="R2d097b3875094a2f" /><Relationship Type="http://schemas.openxmlformats.org/officeDocument/2006/relationships/slide" Target="/ppt/slides/slide1.xml" Id="R04f6cd9f2b4346dd" /><Relationship Type="http://schemas.openxmlformats.org/officeDocument/2006/relationships/slide" Target="/ppt/slides/slide2.xml" Id="Rdab7e9a084cf4f7b" /><Relationship Type="http://schemas.openxmlformats.org/officeDocument/2006/relationships/slide" Target="/ppt/slides/slide3.xml" Id="R66d2b240c990446e" /><Relationship Type="http://schemas.openxmlformats.org/officeDocument/2006/relationships/slide" Target="/ppt/slides/slide4.xml" Id="R52e22f7405bc4854" /><Relationship Type="http://schemas.openxmlformats.org/officeDocument/2006/relationships/slide" Target="/ppt/slides/slide5.xml" Id="Rcdbb46d342d943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c74626ff98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9dbef0662f42f8" /><Relationship Type="http://schemas.openxmlformats.org/officeDocument/2006/relationships/notesMaster" Target="/ppt/notesMasters/notesMaster1.xml" Id="Rb0ad567b242a43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85ce73584d412a" /><Relationship Type="http://schemas.openxmlformats.org/officeDocument/2006/relationships/notesMaster" Target="/ppt/notesMasters/notesMaster1.xml" Id="R248f1b27d26b47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38e29f7096413f" /><Relationship Type="http://schemas.openxmlformats.org/officeDocument/2006/relationships/notesMaster" Target="/ppt/notesMasters/notesMaster1.xml" Id="Rf29b506c7b824d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d08ccc251e4083" /><Relationship Type="http://schemas.openxmlformats.org/officeDocument/2006/relationships/notesMaster" Target="/ppt/notesMasters/notesMaster1.xml" Id="Raa5456428b814e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3951b2903949c1" /><Relationship Type="http://schemas.openxmlformats.org/officeDocument/2006/relationships/notesMaster" Target="/ppt/notesMasters/notesMaster1.xml" Id="R3d4ec5bb699346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25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Nossa proposta é criar um curso de extensão chamado Laboratório de Programação com Python. O ponto de partida é simples: na nossa turma, a maior parte dos alunos ainda não declarou confiança alta em programação. Queremos transformar prática orientada em mais segurança para resolver os problemas que aparecem nas disciplinas e no cotidiano de desenvolvimento.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dos dados locais: censo da turma de Engenharia de Software, disciplina de Probabilidade e Estatística, segundo semestre de 2026, n=44.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A pergunta do censo pediu que cada aluno avaliasse sua confiança em programação de 1 a 5. O nível 3 concentrou 29 respostas. No total, 35 dos 44 alunos, ou 79,5%, marcaram de 1 a 3. A mediana e a moda são iguais a 3. Por isso, não afirmamos que 79,5% têm confiança baixa. O dado mostra que 79,5% ainda não declararam confiança alta. Esse é o público potencial do curso de extensão.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censo da turma de Engenharia de Software, disciplina de Probabilidade e Estatística, segundo semestre de 2026, n=44.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45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Depois, cruzamos confiança com a linguagem mais utilizada. Entre os 35 alunos que marcaram de 1 a 3, 27 usam principalmente Python. Isso representa 77,1% do público-alvo. Java e outras linguagens aparecem com quatro alunos cada. Python, portanto, não foi escolhida por preferência do grupo. Ela atende à maior parte das pessoas que o curso pretende alcançar.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censo da turma de Engenharia de Software, disciplina de Probabilidade e Estatística, segundo semestre de 2026, n=44. Recorte com confiança de 1 a 3, n=35.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55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Para fortalecer a proposta, usamos uma pesquisa de Duran e colaboradores com 3.193 estudantes matriculados em cursos de Computação de várias instituições brasileiras. O estudo investigou fatores que poderiam contribuir para a permanência ou para a intenção de abandonar o curso. Entre os fatores mais associados à intenção de evasão apareceram a dificuldade em programação e matemática e o excesso de disciplinas teóricas. Esse resultado mostra que dificuldades nas áreas centrais do curso merecem atenção. Porém, a pesquisa mede intenção de evasão, não o abandono observado, e não demonstra que confiança baixa cause evasão. Por isso, usamos o estudo para sustentar a relevância de uma intervenção prática, sem afirmar uma relação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</a:t>
            </a:r>
          </a:p>
          <a:p xmlns:a="http://schemas.openxmlformats.org/drawingml/2006/main">
            <a:r>
              <a:t>Duran, R.; Bim, S. A.; Gimenes, I.; Ribeiro, L.; Correia, R. C. M. Potential Factors for Retention and Intent to Drop-out in Brazilian Computing Programs. ACM Transactions on Computing Education, v. 23, n. 3, 2023. https://doi.org/10.1145/3607537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75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A proposta é um curso de extensão optativo, com prática orientada em Python. O conteúdo parte dos problemas que os estudantes já encontram: entender um enunciado, dividir o problema, organizar o código, interpretar uma mensagem de erro, depurar e testar. Os exercícios podem vir das disciplinas ou de tarefas simples do cotidiano. O curso termina com um mini-projeto. Para avaliar o resultado, aplicamos uma medida de confiança antes e depois e combinamos essa medida com uma tarefa prática. O objetivo principal é desenvolver competência. O aumento da confiança é um resultado que podemos acompanhar.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FECHAMENTO</a:t>
            </a:r>
          </a:p>
          <a:p xmlns:a="http://schemas.openxmlformats.org/drawingml/2006/main">
            <a:r>
              <a:t>Os dados mostram um público potencial de 35 estudantes e uma linguagem comum para 27 deles. Por isso, propomos um projeto piloto para esta turma. A conclusão vale somente para a turma de Engenharia de Software da disciplina de Probabilidade e Estatística de 2026/2. O censo não representa o campus e não mediu intenção de matrícula.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8ce3a503b45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2a79f14d284e47" /><Relationship Type="http://schemas.openxmlformats.org/officeDocument/2006/relationships/slideLayout" Target="/ppt/slideLayouts/slideLayout1.xml" Id="Rbceeab7bbc3c46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eeab7bbc3c46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3bbbf9110480d" /><Relationship Type="http://schemas.openxmlformats.org/officeDocument/2006/relationships/notesSlide" Target="/ppt/notesSlides/notesSlide1.xml" Id="R2eee65a0762c4d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2168bf1824839" /><Relationship Type="http://schemas.openxmlformats.org/officeDocument/2006/relationships/chart" Target="/ppt/slides/charts/chart1.xml" Id="R6ecff72ead3c4063" /><Relationship Type="http://schemas.openxmlformats.org/officeDocument/2006/relationships/notesSlide" Target="/ppt/notesSlides/notesSlide2.xml" Id="R9df36e5ab7d2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7a83c57ba423e" /><Relationship Type="http://schemas.openxmlformats.org/officeDocument/2006/relationships/chart" Target="/ppt/slides/charts/chart2.xml" Id="R138b32338a3846d2" /><Relationship Type="http://schemas.openxmlformats.org/officeDocument/2006/relationships/notesSlide" Target="/ppt/notesSlides/notesSlide3.xml" Id="R5cad702253d1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caf8061be43e8" /><Relationship Type="http://schemas.openxmlformats.org/officeDocument/2006/relationships/notesSlide" Target="/ppt/notesSlides/notesSlide4.xml" Id="R111be890f59f4a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acbe0a7d141ab" /><Relationship Type="http://schemas.openxmlformats.org/officeDocument/2006/relationships/notesSlide" Target="/ppt/notesSlides/notesSlide5.xml" Id="R6fa773bbc25f406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Alunos</c:v>
          </c:tx>
          <c:spPr>
            <a:solidFill xmlns:a="http://schemas.openxmlformats.org/drawingml/2006/main">
              <a:srgbClr val="E1AD3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0A9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58EA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1AD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71C3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4C5678"/>
              </a:solidFill>
            </c:spPr>
          </c:dPt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29</c:v>
                </c:pt>
                <c:pt idx="3">
                  <c:v>8</c:v>
                </c:pt>
                <c:pt idx="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024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>
                    <a:solidFill>
                      <a:srgbClr val="667085"/>
                    </a:solidFill>
                    <a:latin typeface="Arial"/>
                    <a:ea typeface="Arial"/>
                    <a:cs typeface="Arial"/>
                  </a:rPr>
                  <a:t>Nível de confiança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66708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C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>
                    <a:solidFill>
                      <a:srgbClr val="667085"/>
                    </a:solidFill>
                    <a:latin typeface="Arial"/>
                    <a:ea typeface="Arial"/>
                    <a:cs typeface="Arial"/>
                  </a:rPr>
                  <a:t>Número de alunos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66708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C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6F1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6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Alunos</c:v>
          </c:tx>
          <c:spPr>
            <a:solidFill xmlns:a="http://schemas.openxmlformats.org/drawingml/2006/main">
              <a:srgbClr val="E1AD3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1AD3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71C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58EA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Python</c:v>
                </c:pt>
                <c:pt idx="1">
                  <c:v>Java</c:v>
                </c:pt>
                <c:pt idx="2">
                  <c:v>Outra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27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024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>
                    <a:solidFill>
                      <a:srgbClr val="667085"/>
                    </a:solidFill>
                    <a:latin typeface="Arial"/>
                    <a:ea typeface="Arial"/>
                    <a:cs typeface="Arial"/>
                  </a:rPr>
                  <a:t>Linguagem mais utilizada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66708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C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C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>
                    <a:solidFill>
                      <a:srgbClr val="667085"/>
                    </a:solidFill>
                    <a:latin typeface="Arial"/>
                    <a:ea typeface="Arial"/>
                    <a:cs typeface="Arial"/>
                  </a:rPr>
                  <a:t>Número de alunos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66708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C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6F1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6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D5E46-23E8-4E4A-BC67-4A0D4744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85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Laboratório de Programação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43043-C69E-4E23-9FAA-B48CF047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D8DD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DDF2"/>
                </a:solidFill>
                <a:latin typeface="Arial"/>
                <a:ea typeface="Arial"/>
                <a:cs typeface="Arial"/>
              </a:rPr>
              <a:t>Curso de extensão para desenvolver prática e confiança em programação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E8643-0D56-4DEF-ADD0-E0B15699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35 de 44 alunos ainda não declararam confiança alta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209FD-1A8D-4209-B274-BBD3D3EA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8BED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BED4"/>
                </a:solidFill>
                <a:latin typeface="Arial"/>
                <a:ea typeface="Arial"/>
                <a:cs typeface="Arial"/>
              </a:rPr>
              <a:t>Integrantes: [nomes do grupo]</a:t>
            </a:r>
          </a:p>
        </p:txBody>
      </p:sp>
    </p:spTree>
    <p:extLst>
      <p:ext uri="{BB962C8B-B14F-4D97-AF65-F5344CB8AC3E}">
        <p14:creationId xmlns:p14="http://schemas.microsoft.com/office/powerpoint/2010/main" val="941698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7FFA1-B1E1-4FFE-93EA-5B56E3CF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A confiança está concentrada no nível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C6C4D-EA8A-4D43-A09C-0607A452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Autoavaliação em escala de 1 a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05F94-8BB8-46BA-8806-5F1DB034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0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327EA-F9CF-4D36-A312-58EC198A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de 44 alunos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AEB82-86A6-4FCF-98C2-3223C3A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79,5% marcaram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níveis de 1 a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81CED-861E-44F6-B69B-74AA8E1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Mediana = 3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Moda =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BD281-9C51-4E22-95A5-A9E1B105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Fonte: censo da turma de ES, Probabilidade e Estatística, 2026/2, n=44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17199-83C9-4277-B693-37B81890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68580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ff72ead3c4063"/>
          </a:graphicData>
        </a:graphic>
      </p:graphicFrame>
    </p:spTree>
    <p:extLst>
      <p:ext uri="{BB962C8B-B14F-4D97-AF65-F5344CB8AC3E}">
        <p14:creationId xmlns:p14="http://schemas.microsoft.com/office/powerpoint/2010/main" val="947473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3A967-5B23-4E9F-BE49-62D624AF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Python atende 77,1% do público-alvo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CE981-E8AF-4EBB-AFF1-AC10492E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Linguagem mais usada entre os 35 alunos com confiança de 1 a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66644-7B86-4BEB-948A-2C62C56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0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1E5DB-2C78-4B7D-9C8B-3C81CEB1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051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alunos usam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20E18-7652-4F47-9390-B031E51F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Uma linguagem comum permite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um curso focado e acessível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91E38-AFB6-44A7-9570-45C6D153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Fonte: cruzamento entre confiança e linguagem no censo da turma, n=35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B9872-2EC9-4CCD-A109-C4988BA8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7239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8b32338a3846d2"/>
          </a:graphicData>
        </a:graphic>
      </p:graphicFrame>
    </p:spTree>
    <p:extLst>
      <p:ext uri="{BB962C8B-B14F-4D97-AF65-F5344CB8AC3E}">
        <p14:creationId xmlns:p14="http://schemas.microsoft.com/office/powerpoint/2010/main" val="1331766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9E264-E012-4BE6-AC09-FDF86A14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Evasão em cursos de Computação no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FFD3E-B1A8-472B-B2C3-2C335B21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Pesquisa nacional com 3.193 estudantes matriculados em cursos de Computação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789CF-D039-4361-A764-281B5D1A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3905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3.193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3D59D-6B63-4CA3-8AD1-68AE63D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estudantes de cursos brasileiros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de Computação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5162D-B933-478B-8328-AC02EBE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428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O estudo investigou fatores associados à permanência e à intenção de abandonar o curso.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09158-2C5B-4328-B188-D0C0D827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71C3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C3A"/>
                </a:solidFill>
                <a:latin typeface="Arial"/>
                <a:ea typeface="Arial"/>
                <a:cs typeface="Arial"/>
              </a:rPr>
              <a:t>2 fatores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13591-8EEF-4B23-A872-3E728C44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fatores mais associados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à intenção de evasão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88943-BBEF-4491-9091-6287FA1D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428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Dificuldade em programação e matemática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Excesso de disciplinas teóricas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0DDFA-62CF-43BA-96DD-446D76DD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 estudo mede intenção de evasão, não abandono observado, e não estabelece causalidade.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ED2EF-1BD8-4C27-97B2-0CDCC932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Fonte: Duran et al. (2023), https://doi.org/10.1145/3607537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B8326-4C43-4897-B02C-3463F530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7642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D2A0D-B771-4576-BCA2-8EC8C950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Curso de extensão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122B2-8EFD-4F93-8C35-39FD3F1F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Prática orientada com problemas próximos da graduação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E720E-0DE4-45D3-88D3-18AB076F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C45C0-F8B5-44B4-A644-F3DE1B8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Desenvolver competência prática em Python e acompanhar a mudança na confiança dos participantes.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9BF80-BAAC-4EDB-B67E-144426F9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00200"/>
            <a:ext cx="49530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decomposição de problemas e construção de algoritmos</a:t>
            </a:r>
          </a:p>
          <a:p xmlns:a="http://schemas.openxmlformats.org/drawingml/2006/main"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funções, estruturas de dados e organização do código</a:t>
            </a:r>
          </a:p>
          <a:p xmlns:a="http://schemas.openxmlformats.org/drawingml/2006/main"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leitura de erros, depuração e testes</a:t>
            </a:r>
          </a:p>
          <a:p xmlns:a="http://schemas.openxmlformats.org/drawingml/2006/main"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exercícios das disciplinas e problemas do cotidiano</a:t>
            </a:r>
          </a:p>
          <a:p xmlns:a="http://schemas.openxmlformats.org/drawingml/2006/main"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mini-projeto com avaliação de confiança antes e depois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E93A3-5C25-4C65-AD4C-7BE12D28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Formato proposto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36B03-B197-46AC-AE50-0473097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Atividade optativa, aberta à turma, com encontros presenciais e foco em resolver problemas escrevendo e testando código.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003DA-57F0-408A-AD1B-24D04D05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Proposta de projeto-piloto para esta turma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19461-FAD7-4FD2-9C04-F6B1BAF5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8795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2026-09-17T17:32:51.1290000Z</dcterms:created>
  <dcterms:modified xsi:type="dcterms:W3CDTF">2026-09-17T17:32:51.1290000Z</dcterms:modified>
</coreProperties>
</file>