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Alunos</c:v>
          </c:tx>
          <c:spPr>
            <a:solidFill>
              <a:srgbClr val="E1AD32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0A9C4"/>
              </a:solidFill>
            </c:spPr>
            <c:extLst>
              <c:ext xmlns:c16="http://schemas.microsoft.com/office/drawing/2014/chart" uri="{C3380CC4-5D6E-409C-BE32-E72D297353CC}">
                <c16:uniqueId val="{00000001-A87D-4717-85F6-D1F048EBD15C}"/>
              </c:ext>
            </c:extLst>
          </c:dPt>
          <c:dPt>
            <c:idx val="1"/>
            <c:invertIfNegative val="0"/>
            <c:bubble3D val="0"/>
            <c:spPr>
              <a:solidFill>
                <a:srgbClr val="858EA8"/>
              </a:solidFill>
            </c:spPr>
            <c:extLst>
              <c:ext xmlns:c16="http://schemas.microsoft.com/office/drawing/2014/chart" uri="{C3380CC4-5D6E-409C-BE32-E72D297353CC}">
                <c16:uniqueId val="{00000003-A87D-4717-85F6-D1F048EBD15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87D-4717-85F6-D1F048EBD15C}"/>
              </c:ext>
            </c:extLst>
          </c:dPt>
          <c:dPt>
            <c:idx val="3"/>
            <c:invertIfNegative val="0"/>
            <c:bubble3D val="0"/>
            <c:spPr>
              <a:solidFill>
                <a:srgbClr val="171C3A"/>
              </a:solidFill>
            </c:spPr>
            <c:extLst>
              <c:ext xmlns:c16="http://schemas.microsoft.com/office/drawing/2014/chart" uri="{C3380CC4-5D6E-409C-BE32-E72D297353CC}">
                <c16:uniqueId val="{00000007-A87D-4717-85F6-D1F048EBD15C}"/>
              </c:ext>
            </c:extLst>
          </c:dPt>
          <c:dPt>
            <c:idx val="4"/>
            <c:invertIfNegative val="0"/>
            <c:bubble3D val="0"/>
            <c:spPr>
              <a:solidFill>
                <a:srgbClr val="4C5678"/>
              </a:solidFill>
            </c:spPr>
            <c:extLst>
              <c:ext xmlns:c16="http://schemas.microsoft.com/office/drawing/2014/chart" uri="{C3380CC4-5D6E-409C-BE32-E72D297353CC}">
                <c16:uniqueId val="{00000009-A87D-4717-85F6-D1F048EBD1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0243B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29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A87D-4717-85F6-D1F048EBD1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Nível de confiança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DCE6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D9DC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Número de alunos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DCE6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  <c:majorUnit val="5"/>
      </c:valAx>
      <c:spPr>
        <a:solidFill>
          <a:srgbClr val="F7F6F1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6F1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Alunos</c:v>
          </c:tx>
          <c:spPr>
            <a:solidFill>
              <a:srgbClr val="E1AD32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61-453A-AD9F-5E9817633EE1}"/>
              </c:ext>
            </c:extLst>
          </c:dPt>
          <c:dPt>
            <c:idx val="1"/>
            <c:invertIfNegative val="0"/>
            <c:bubble3D val="0"/>
            <c:spPr>
              <a:solidFill>
                <a:srgbClr val="171C3A"/>
              </a:solidFill>
            </c:spPr>
            <c:extLst>
              <c:ext xmlns:c16="http://schemas.microsoft.com/office/drawing/2014/chart" uri="{C3380CC4-5D6E-409C-BE32-E72D297353CC}">
                <c16:uniqueId val="{00000003-0961-453A-AD9F-5E9817633EE1}"/>
              </c:ext>
            </c:extLst>
          </c:dPt>
          <c:dPt>
            <c:idx val="2"/>
            <c:invertIfNegative val="0"/>
            <c:bubble3D val="0"/>
            <c:spPr>
              <a:solidFill>
                <a:srgbClr val="858EA8"/>
              </a:solidFill>
            </c:spPr>
            <c:extLst>
              <c:ext xmlns:c16="http://schemas.microsoft.com/office/drawing/2014/chart" uri="{C3380CC4-5D6E-409C-BE32-E72D297353CC}">
                <c16:uniqueId val="{00000005-0961-453A-AD9F-5E9817633EE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0243B"/>
                    </a:solidFill>
                    <a:latin typeface="Arial"/>
                    <a:ea typeface="Arial"/>
                    <a:cs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Python</c:v>
                </c:pt>
                <c:pt idx="1">
                  <c:v>Java</c:v>
                </c:pt>
                <c:pt idx="2">
                  <c:v>Outra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27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961-453A-AD9F-5E9817633E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Linguagem mais utilizada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DCE6"/>
            </a:solidFill>
            <a:prstDash val="solid"/>
          </a:ln>
        </c:spPr>
        <c:txPr>
          <a:bodyPr anchorCtr="1"/>
          <a:lstStyle/>
          <a:p>
            <a:pPr>
              <a:defRPr sz="112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9DC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pt-BR" sz="1125" b="1">
                    <a:solidFill>
                      <a:srgbClr val="667085"/>
                    </a:solidFill>
                    <a:latin typeface="Arial"/>
                    <a:ea typeface="Arial"/>
                    <a:cs typeface="Arial"/>
                  </a:rPr>
                  <a:t>Número de alunos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DCE6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lang="pt-BR"/>
          </a:p>
        </c:txPr>
        <c:crossAx val="48650112"/>
        <c:crosses val="autoZero"/>
        <c:crossBetween val="between"/>
        <c:majorUnit val="5"/>
      </c:valAx>
      <c:spPr>
        <a:solidFill>
          <a:srgbClr val="F7F6F1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6F1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25 segundos</a:t>
            </a:r>
          </a:p>
          <a:p>
            <a:endParaRPr/>
          </a:p>
          <a:p>
            <a:r>
              <a:t>ROTEIRO</a:t>
            </a:r>
          </a:p>
          <a:p>
            <a:r>
              <a:t>Nossa proposta é criar um curso de extensão chamado Laboratório de Programação com Python. O ponto de partida é simples: na nossa turma, a maior parte dos alunos ainda não declarou confiança alta em programação. Queremos transformar prática orientada em mais segurança para resolver os problemas que aparecem nas disciplinas e no cotidiano de desenvolvimento.</a:t>
            </a:r>
          </a:p>
          <a:p>
            <a:endParaRPr/>
          </a:p>
          <a:p>
            <a:r>
              <a:t>Fonte dos dados locais: censo da turma de Engenharia de Software, disciplina de Probabilidade e Estatística, segundo semestre de 2026, n=44.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50 segundos</a:t>
            </a:r>
          </a:p>
          <a:p>
            <a:endParaRPr/>
          </a:p>
          <a:p>
            <a:r>
              <a:t>ROTEIRO</a:t>
            </a:r>
          </a:p>
          <a:p>
            <a:r>
              <a:t>A pergunta do censo pediu que cada aluno avaliasse sua confiança em programação de 1 a 5. O nível 3 concentrou 29 respostas. No total, 35 dos 44 alunos, ou 79,5%, marcaram de 1 a 3. A mediana e a moda são iguais a 3. Por isso, não afirmamos que 79,5% têm confiança baixa. O dado mostra que 79,5% ainda não declararam confiança alta. Esse é o público potencial do curso de extensão.</a:t>
            </a:r>
          </a:p>
          <a:p>
            <a:endParaRPr/>
          </a:p>
          <a:p>
            <a:r>
              <a:t>Fonte: censo da turma de Engenharia de Software, disciplina de Probabilidade e Estatística, segundo semestre de 2026, n=44.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45 segundos</a:t>
            </a:r>
          </a:p>
          <a:p>
            <a:endParaRPr/>
          </a:p>
          <a:p>
            <a:r>
              <a:t>ROTEIRO</a:t>
            </a:r>
          </a:p>
          <a:p>
            <a:r>
              <a:t>Depois, cruzamos confiança com a linguagem mais utilizada. Entre os 35 alunos que marcaram de 1 a 3, 27 usam principalmente Python. Isso representa 77,1% do público-alvo. Java e outras linguagens aparecem com quatro alunos cada. Python, portanto, não foi escolhida por preferência do grupo. Ela atende à maior parte das pessoas que o curso pretende alcançar.</a:t>
            </a:r>
          </a:p>
          <a:p>
            <a:endParaRPr/>
          </a:p>
          <a:p>
            <a:r>
              <a:t>Fonte: censo da turma de Engenharia de Software, disciplina de Probabilidade e Estatística, segundo semestre de 2026, n=44. Recorte com confiança de 1 a 3, n=35.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55 segundos</a:t>
            </a:r>
          </a:p>
          <a:p>
            <a:endParaRPr/>
          </a:p>
          <a:p>
            <a:r>
              <a:t>ROTEIRO</a:t>
            </a:r>
          </a:p>
          <a:p>
            <a:r>
              <a:t>Para fortalecer a proposta, usamos uma pesquisa de Duran e colaboradores com 3.193 estudantes matriculados em cursos de Computação de várias instituições brasileiras. O estudo investigou fatores que poderiam contribuir para a permanência ou para a intenção de abandonar o curso. Entre os fatores mais associados à intenção de evasão apareceram a dificuldade em programação e matemática e o excesso de disciplinas teóricas. Esse resultado mostra que dificuldades nas áreas centrais do curso merecem atenção. Porém, a pesquisa mede intenção de evasão, não o abandono observado, e não demonstra que confiança baixa cause evasão. Por isso, usamos o estudo para sustentar a relevância de uma intervenção prática, sem afirmar uma relação causal.</a:t>
            </a:r>
          </a:p>
          <a:p>
            <a:endParaRPr/>
          </a:p>
          <a:p>
            <a:r>
              <a:t>FONTE</a:t>
            </a:r>
          </a:p>
          <a:p>
            <a:r>
              <a:t>Duran, R.; Bim, S. A.; Gimenes, I.; Ribeiro, L.; Correia, R. C. M. Potential Factors for Retention and Intent to Drop-out in Brazilian Computing Programs. ACM Transactions on Computing Education, v. 23, n. 3, 2023. https://doi.org/10.1145/3607537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75 segundos</a:t>
            </a:r>
          </a:p>
          <a:p>
            <a:endParaRPr/>
          </a:p>
          <a:p>
            <a:r>
              <a:t>ROTEIRO</a:t>
            </a:r>
          </a:p>
          <a:p>
            <a:r>
              <a:t>A proposta é um curso de extensão optativo, com prática orientada em Python. O conteúdo parte dos problemas que os estudantes já encontram: entender um enunciado, dividir o problema, organizar o código, interpretar uma mensagem de erro, depurar e testar. Os exercícios podem vir das disciplinas ou de tarefas simples do cotidiano. O curso termina com um mini-projeto. Para avaliar o resultado, aplicamos uma medida de confiança antes e depois e combinamos essa medida com uma tarefa prática. O objetivo principal é desenvolver competência. O aumento da confiança é um resultado que podemos acompanhar.</a:t>
            </a:r>
          </a:p>
          <a:p>
            <a:endParaRPr/>
          </a:p>
          <a:p>
            <a:r>
              <a:t>FECHAMENTO</a:t>
            </a:r>
          </a:p>
          <a:p>
            <a:r>
              <a:t>Os dados mostram um público potencial de 35 estudantes e uma linguagem comum para 27 deles. Por isso, propomos um projeto piloto para esta turma. A conclusão vale somente para a turma de Engenharia de Software da disciplina de Probabilidade e Estatística de 2026/2. O censo não representa o campus e não mediu intenção de matrícula.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50 segundos</a:t>
            </a:r>
          </a:p>
          <a:p>
            <a:endParaRPr/>
          </a:p>
          <a:p>
            <a:r>
              <a:t>ROTEIRO</a:t>
            </a:r>
          </a:p>
          <a:p>
            <a:r>
              <a:t>Agora vem o número que pode matar a nossa proposta. Para um curso focado em Python, adotamos como condição mínima que pelo menos 18 dos 35 alunos do nosso público-alvo usem Python como linguagem principal. O dado da turma mostra 27 de 35, ou 77,1%. Portanto, nesse critério, a proposta se sustenta. Se esse número estivesse abaixo do mínimo, teríamos que mudar o foco do curso. Mas existe uma limitação importante: o censo não perguntou quem faria o curso. Então, esse número sustenta a escolha da linguagem, não prova intenção de matrícula. Por isso, a proposta é apresentada como projeto-piloto para 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E9D5E46-23E8-4E4A-BC67-4A0D4744A551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88582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Laboratório de Programação</a:t>
            </a:r>
          </a:p>
          <a:p>
            <a:pPr algn="l"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Python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E943043-C69E-4E23-9FAA-B48CF047833B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952500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D8DDF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DDF2"/>
                </a:solidFill>
                <a:latin typeface="Arial"/>
                <a:ea typeface="Arial"/>
                <a:cs typeface="Arial"/>
              </a:rPr>
              <a:t>Curso de extensão para desenvolver prática e confiança em programação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0E8643-0D56-4DEF-ADD0-E0B15699AA0E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8763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35 de 44 alunos ainda não declararam confiança alta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D209FD-1A8D-4209-B274-BBD3D3EADCC4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425" b="0">
                <a:solidFill>
                  <a:srgbClr val="B8BED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BED4"/>
                </a:solidFill>
                <a:latin typeface="Arial"/>
                <a:ea typeface="Arial"/>
                <a:cs typeface="Arial"/>
              </a:rPr>
              <a:t>Integrantes: [nomes do grupo]</a:t>
            </a:r>
          </a:p>
        </p:txBody>
      </p:sp>
    </p:spTree>
    <p:extLst>
      <p:ext uri="{BB962C8B-B14F-4D97-AF65-F5344CB8AC3E}">
        <p14:creationId xmlns:p14="http://schemas.microsoft.com/office/powerpoint/2010/main" val="94169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E07FFA1-B1E1-4FFE-93EA-5B56E3CFBBC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A confiança está concentrada no nível 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FC6C4D-EA8A-4D43-A09C-0607A4522248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Autoavaliação em escala de 1 a 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CB05F94-8BB8-46BA-8806-5F1DB0346A8F}"/>
              </a:ext>
            </a:extLst>
          </p:cNvPr>
          <p:cNvSpPr>
            <a:spLocks noGrp="1"/>
          </p:cNvSpPr>
          <p:nvPr/>
        </p:nvSpPr>
        <p:spPr>
          <a:xfrm>
            <a:off x="8096250" y="19240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645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A327EA-F9CF-4D36-A312-58EC198AF910}"/>
              </a:ext>
            </a:extLst>
          </p:cNvPr>
          <p:cNvSpPr>
            <a:spLocks noGrp="1"/>
          </p:cNvSpPr>
          <p:nvPr/>
        </p:nvSpPr>
        <p:spPr>
          <a:xfrm>
            <a:off x="8096250" y="29337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de 44 alunos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6EAEB82-86A6-4FCF-98C2-3223C3A8B7D2}"/>
              </a:ext>
            </a:extLst>
          </p:cNvPr>
          <p:cNvSpPr>
            <a:spLocks noGrp="1"/>
          </p:cNvSpPr>
          <p:nvPr/>
        </p:nvSpPr>
        <p:spPr>
          <a:xfrm>
            <a:off x="7905750" y="3638550"/>
            <a:ext cx="2857500" cy="933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79,5% marcaram</a:t>
            </a:r>
          </a:p>
          <a:p>
            <a:pPr algn="ctr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níveis de 1 a 3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6081CED-861E-44F6-B69B-74AA8E1F97BB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24765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Mediana = 3</a:t>
            </a:r>
          </a:p>
          <a:p>
            <a:pPr algn="ctr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Moda = 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7BD281-9C51-4E22-95A5-A9E1B105DB39}"/>
              </a:ext>
            </a:extLst>
          </p:cNvPr>
          <p:cNvSpPr>
            <a:spLocks noGrp="1"/>
          </p:cNvSpPr>
          <p:nvPr/>
        </p:nvSpPr>
        <p:spPr>
          <a:xfrm>
            <a:off x="704850" y="64198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censo da turma de ES, Probabilidade e Estatística, 2026/2, n=44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CA17199-83C9-4277-B693-37B81890AAEF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85800" y="1600200"/>
          <a:ext cx="6858000" cy="4171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47473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8E83A967-5B23-4E9F-BE49-62D624AFDB2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Python atende 77,1% do público-alvo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ACE981-E8AF-4EBB-AFF1-AC10492E7643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Linguagem mais usada entre os 35 alunos com confiança de 1 a 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566644-7B86-4BEB-948A-2C62C5642F11}"/>
              </a:ext>
            </a:extLst>
          </p:cNvPr>
          <p:cNvSpPr>
            <a:spLocks noGrp="1"/>
          </p:cNvSpPr>
          <p:nvPr/>
        </p:nvSpPr>
        <p:spPr>
          <a:xfrm>
            <a:off x="8572500" y="2038350"/>
            <a:ext cx="200025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645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71E5DB-2C78-4B7D-9C8B-3C81CEB14A88}"/>
              </a:ext>
            </a:extLst>
          </p:cNvPr>
          <p:cNvSpPr>
            <a:spLocks noGrp="1"/>
          </p:cNvSpPr>
          <p:nvPr/>
        </p:nvSpPr>
        <p:spPr>
          <a:xfrm>
            <a:off x="8239125" y="310515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alunos usam Python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6A20E18-7652-4F47-9390-B031E51F8C5E}"/>
              </a:ext>
            </a:extLst>
          </p:cNvPr>
          <p:cNvSpPr>
            <a:spLocks noGrp="1"/>
          </p:cNvSpPr>
          <p:nvPr/>
        </p:nvSpPr>
        <p:spPr>
          <a:xfrm>
            <a:off x="8048625" y="3962400"/>
            <a:ext cx="30480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87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Uma linguagem comum permite</a:t>
            </a:r>
          </a:p>
          <a:p>
            <a:pPr algn="ctr">
              <a:buNone/>
              <a:defRPr sz="187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um curso focado e acessível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0A91E38-AFB6-44A7-9570-45C6D1530145}"/>
              </a:ext>
            </a:extLst>
          </p:cNvPr>
          <p:cNvSpPr>
            <a:spLocks noGrp="1"/>
          </p:cNvSpPr>
          <p:nvPr/>
        </p:nvSpPr>
        <p:spPr>
          <a:xfrm>
            <a:off x="704850" y="64198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cruzamento entre confiança e linguagem no censo da turma, n=35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AFB9872-2EC9-4CCD-A109-C4988BA87CB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762000" y="1695450"/>
          <a:ext cx="7239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3176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AF9E264-E012-4BE6-AC09-FDF86A1468D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Evasão em cursos de Computação no Brasil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AFFD3E-B1A8-472B-B2C3-2C335B219BD4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Pesquisa nacional com 3.193 estudantes matriculados em cursos de Computação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F789CF-D039-4361-A764-281B5D1AA09E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39052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5400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3.193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C03D59D-6B63-4CA3-8AD1-68AE63DA3084}"/>
              </a:ext>
            </a:extLst>
          </p:cNvPr>
          <p:cNvSpPr>
            <a:spLocks noGrp="1"/>
          </p:cNvSpPr>
          <p:nvPr/>
        </p:nvSpPr>
        <p:spPr>
          <a:xfrm>
            <a:off x="952500" y="2800350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estudantes de cursos brasileiros</a:t>
            </a:r>
          </a:p>
          <a:p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de Computação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125162D-B933-478B-8328-AC02EBE4E0AE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4286250" cy="1352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O estudo investigou fatores associados à permanência e à intenção de abandonar o curso.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5209158-2C5B-4328-B188-D0C0D827C69A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5400" b="1">
                <a:solidFill>
                  <a:srgbClr val="171C3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1C3A"/>
                </a:solidFill>
                <a:latin typeface="Arial"/>
                <a:ea typeface="Arial"/>
                <a:cs typeface="Arial"/>
              </a:rPr>
              <a:t>2 fatores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A413591-8EEF-4B23-A872-3E728C449F12}"/>
              </a:ext>
            </a:extLst>
          </p:cNvPr>
          <p:cNvSpPr>
            <a:spLocks noGrp="1"/>
          </p:cNvSpPr>
          <p:nvPr/>
        </p:nvSpPr>
        <p:spPr>
          <a:xfrm>
            <a:off x="6705600" y="2800350"/>
            <a:ext cx="4095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fatores mais associados</a:t>
            </a:r>
          </a:p>
          <a:p>
            <a:pPr algn="l">
              <a:buNone/>
              <a:defRPr sz="1875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à intenção de evasão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EB88943-BBEF-4491-9091-6287FA1D810D}"/>
              </a:ext>
            </a:extLst>
          </p:cNvPr>
          <p:cNvSpPr>
            <a:spLocks noGrp="1"/>
          </p:cNvSpPr>
          <p:nvPr/>
        </p:nvSpPr>
        <p:spPr>
          <a:xfrm>
            <a:off x="6705600" y="3733800"/>
            <a:ext cx="4286250" cy="1352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Dificuldade em programação e matemática</a:t>
            </a:r>
          </a:p>
          <a:p>
            <a:pPr algn="l">
              <a:buNone/>
              <a:defRPr sz="180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Excesso de disciplinas teóricas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0DDFA-62CF-43BA-96DD-446D76DD92E3}"/>
              </a:ext>
            </a:extLst>
          </p:cNvPr>
          <p:cNvSpPr>
            <a:spLocks noGrp="1"/>
          </p:cNvSpPr>
          <p:nvPr/>
        </p:nvSpPr>
        <p:spPr>
          <a:xfrm>
            <a:off x="1143000" y="5276850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 estudo mede intenção de evasão, não abandono observado, e não estabelece causalidade.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4ED2EF-1BD8-4C27-97B2-0CDCC93274B9}"/>
              </a:ext>
            </a:extLst>
          </p:cNvPr>
          <p:cNvSpPr>
            <a:spLocks noGrp="1"/>
          </p:cNvSpPr>
          <p:nvPr/>
        </p:nvSpPr>
        <p:spPr>
          <a:xfrm>
            <a:off x="704850" y="64198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Fonte: Duran et al. (2023), https://doi.org/10.1145/3607537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3B8326-4C43-4897-B02C-3463F5303ED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87642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7DD2A0D-B771-4576-BCA2-8EC8C950FF5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300" b="1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Curso de extensão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54122B2-8EFD-4F93-8C35-39FD3F1FC2FC}"/>
              </a:ext>
            </a:extLst>
          </p:cNvPr>
          <p:cNvSpPr>
            <a:spLocks noGrp="1"/>
          </p:cNvSpPr>
          <p:nvPr/>
        </p:nvSpPr>
        <p:spPr>
          <a:xfrm>
            <a:off x="704850" y="952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Prática orientada com problemas próximos da graduação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8E720E-0DE4-45D3-88D3-18AB076F8288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BC45C0-F8B5-44B4-A644-F3DE1B8842B7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4572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Desenvolver competência prática em Python e acompanhar a mudança na confiança dos participantes.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29BF80-BAAC-4EDB-B67E-144426F939C4}"/>
              </a:ext>
            </a:extLst>
          </p:cNvPr>
          <p:cNvSpPr>
            <a:spLocks noGrp="1"/>
          </p:cNvSpPr>
          <p:nvPr/>
        </p:nvSpPr>
        <p:spPr>
          <a:xfrm>
            <a:off x="6115050" y="1600200"/>
            <a:ext cx="4953000" cy="3676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decomposição de problemas e construção de algoritmos</a:t>
            </a:r>
          </a:p>
          <a:p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funções, estruturas de dados e organização do código</a:t>
            </a:r>
          </a:p>
          <a:p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leitura de erros, depuração e testes</a:t>
            </a:r>
          </a:p>
          <a:p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exercícios das disciplinas e problemas do cotidiano</a:t>
            </a:r>
          </a:p>
          <a:p>
            <a:pPr marL="279400" indent="-127000">
              <a:spcAft>
                <a:spcPts val="1400"/>
              </a:spcAft>
              <a:buChar char="•"/>
              <a:defRPr sz="2025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0243B"/>
                </a:solidFill>
                <a:latin typeface="Arial"/>
                <a:ea typeface="Arial"/>
                <a:cs typeface="Arial"/>
              </a:rPr>
              <a:t>mini-projeto com avaliação de confiança antes e depois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FE93A3-5C25-4C65-AD4C-7BE12D28F1FD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E1AD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Formato proposto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836B03-B197-46AC-AE50-0473097CC030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45720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950" b="0">
                <a:solidFill>
                  <a:srgbClr val="2024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Atividade optativa, aberta à turma, com encontros presenciais e foco em resolver problemas escrevendo e testando código.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1003DA-57F0-408A-AD1B-24D04D050ADC}"/>
              </a:ext>
            </a:extLst>
          </p:cNvPr>
          <p:cNvSpPr>
            <a:spLocks noGrp="1"/>
          </p:cNvSpPr>
          <p:nvPr/>
        </p:nvSpPr>
        <p:spPr>
          <a:xfrm>
            <a:off x="704850" y="6419850"/>
            <a:ext cx="990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Proposta de projeto-piloto para esta turma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1E19461-FAD7-4FD2-9C04-F6B1BAF5E5ED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879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8173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300" b="1">
                <a:solidFill>
                  <a:srgbClr val="20243B"/>
                </a:solidFill>
                <a:latin typeface="Arial"/>
              </a:rPr>
              <a:t>O número que mata 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950976"/>
            <a:ext cx="104790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25" b="0" dirty="0">
                <a:solidFill>
                  <a:srgbClr val="667085"/>
                </a:solidFill>
                <a:latin typeface="Arial"/>
              </a:rPr>
              <a:t>A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proposta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só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se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sustenta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se a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maioria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da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turma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não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declarar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confiança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alta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em</a:t>
            </a:r>
            <a:r>
              <a:rPr sz="1725" b="0" dirty="0">
                <a:solidFill>
                  <a:srgbClr val="667085"/>
                </a:solidFill>
                <a:latin typeface="Arial"/>
              </a:rPr>
              <a:t> </a:t>
            </a:r>
            <a:r>
              <a:rPr sz="1725" b="0" dirty="0" err="1">
                <a:solidFill>
                  <a:srgbClr val="667085"/>
                </a:solidFill>
                <a:latin typeface="Arial"/>
              </a:rPr>
              <a:t>programação</a:t>
            </a:r>
            <a:endParaRPr sz="1725" b="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1700783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1AD32"/>
                </a:solidFill>
                <a:latin typeface="Arial"/>
              </a:rPr>
              <a:t>SÓ SE SUSTENTA 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62174"/>
            <a:ext cx="332422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20243B"/>
                </a:solidFill>
                <a:latin typeface="Arial"/>
              </a:rPr>
              <a:t>A </a:t>
            </a:r>
            <a:r>
              <a:rPr sz="2400" b="1" dirty="0" err="1">
                <a:solidFill>
                  <a:srgbClr val="20243B"/>
                </a:solidFill>
                <a:latin typeface="Arial"/>
              </a:rPr>
              <a:t>maioria</a:t>
            </a:r>
            <a:r>
              <a:rPr sz="2400" b="1" dirty="0">
                <a:solidFill>
                  <a:srgbClr val="20243B"/>
                </a:solidFill>
                <a:latin typeface="Arial"/>
              </a:rPr>
              <a:t> da </a:t>
            </a:r>
            <a:r>
              <a:rPr sz="2400" b="1" dirty="0" err="1">
                <a:solidFill>
                  <a:srgbClr val="20243B"/>
                </a:solidFill>
                <a:latin typeface="Arial"/>
              </a:rPr>
              <a:t>turma</a:t>
            </a:r>
            <a:r>
              <a:rPr sz="2400" b="1" dirty="0">
                <a:solidFill>
                  <a:srgbClr val="20243B"/>
                </a:solidFill>
                <a:latin typeface="Arial"/>
              </a:rPr>
              <a:t>
</a:t>
            </a:r>
            <a:r>
              <a:rPr sz="2400" b="1" dirty="0" err="1">
                <a:solidFill>
                  <a:srgbClr val="20243B"/>
                </a:solidFill>
                <a:latin typeface="Arial"/>
              </a:rPr>
              <a:t>estiver</a:t>
            </a:r>
            <a:r>
              <a:rPr sz="2400" b="1" dirty="0">
                <a:solidFill>
                  <a:srgbClr val="20243B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20243B"/>
                </a:solidFill>
                <a:latin typeface="Arial"/>
              </a:rPr>
              <a:t>nos</a:t>
            </a:r>
            <a:r>
              <a:rPr sz="2400" b="1" dirty="0">
                <a:solidFill>
                  <a:srgbClr val="20243B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20243B"/>
                </a:solidFill>
                <a:latin typeface="Arial"/>
              </a:rPr>
              <a:t>níveis</a:t>
            </a:r>
            <a:r>
              <a:rPr sz="2400" b="1" dirty="0">
                <a:solidFill>
                  <a:srgbClr val="20243B"/>
                </a:solidFill>
                <a:latin typeface="Arial"/>
              </a:rPr>
              <a:t> 1 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580722"/>
            <a:ext cx="36118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dirty="0">
                <a:solidFill>
                  <a:srgbClr val="20243B"/>
                </a:solidFill>
                <a:latin typeface="Arial"/>
              </a:rPr>
              <a:t>Com 44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alunos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, a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maioria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começa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em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719072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1AD32"/>
                </a:solidFill>
                <a:latin typeface="Arial"/>
              </a:rPr>
              <a:t>O DADO DA TURMA DIZ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066543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E1AD32"/>
                </a:solidFill>
                <a:latin typeface="Arial"/>
              </a:rPr>
              <a:t>35 de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43200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>
                <a:solidFill>
                  <a:srgbClr val="20243B"/>
                </a:solidFill>
                <a:latin typeface="Arial"/>
              </a:rPr>
              <a:t>79,5%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47872"/>
            <a:ext cx="338328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pt-BR" sz="1700" dirty="0">
                <a:solidFill>
                  <a:srgbClr val="20243B"/>
                </a:solidFill>
                <a:latin typeface="Arial"/>
              </a:rPr>
              <a:t>M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arcaram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níveis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de 1 a 3
de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confiança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em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0243B"/>
                </a:solidFill>
                <a:latin typeface="Arial"/>
              </a:rPr>
              <a:t>programação</a:t>
            </a:r>
            <a:r>
              <a:rPr sz="1700" b="0" dirty="0">
                <a:solidFill>
                  <a:srgbClr val="20243B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1907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1AD32"/>
                </a:solidFill>
                <a:latin typeface="Arial"/>
              </a:rPr>
              <a:t>PORTANTO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57400"/>
            <a:ext cx="27432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>
                <a:solidFill>
                  <a:srgbClr val="20243B"/>
                </a:solidFill>
                <a:latin typeface="Arial"/>
              </a:rPr>
              <a:t>SUSTENTA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34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E1AD32"/>
                </a:solidFill>
                <a:latin typeface="Arial"/>
              </a:rPr>
              <a:t>35 &gt;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4939" y="3542961"/>
            <a:ext cx="2880360" cy="1015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0" dirty="0">
                <a:solidFill>
                  <a:srgbClr val="20243B"/>
                </a:solidFill>
                <a:latin typeface="Arial"/>
              </a:rPr>
              <a:t>O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número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observado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atende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ao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critério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 de </a:t>
            </a:r>
            <a:r>
              <a:rPr sz="1650" b="0" dirty="0" err="1">
                <a:solidFill>
                  <a:srgbClr val="20243B"/>
                </a:solidFill>
                <a:latin typeface="Arial"/>
              </a:rPr>
              <a:t>maioria</a:t>
            </a:r>
            <a:r>
              <a:rPr sz="1650" b="0" dirty="0">
                <a:solidFill>
                  <a:srgbClr val="20243B"/>
                </a:solidFill>
                <a:latin typeface="Arial"/>
              </a:rPr>
              <a:t>.
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19088"/>
            <a:ext cx="99029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5" b="0">
                <a:solidFill>
                  <a:srgbClr val="667085"/>
                </a:solidFill>
                <a:latin typeface="Arial"/>
              </a:rPr>
              <a:t>Fonte: censo da turma de ES, Probabilidade e Estatística, 2026/2, n=44. Confiança em programação: níveis 1 a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4512" y="641908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25" b="0">
                <a:solidFill>
                  <a:srgbClr val="6670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1248</Words>
  <Application>Microsoft Office PowerPoint</Application>
  <DocSecurity>0</DocSecurity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Guilherme Menhard</cp:lastModifiedBy>
  <cp:revision>2</cp:revision>
  <dcterms:created xsi:type="dcterms:W3CDTF">2026-09-17T17:32:51Z</dcterms:created>
  <dcterms:modified xsi:type="dcterms:W3CDTF">2026-09-17T21:01:22Z</dcterms:modified>
</cp:coreProperties>
</file>